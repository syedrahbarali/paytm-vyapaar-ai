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3931920"/>
          </a:xfrm>
          <a:prstGeom prst="roundRect">
            <a:avLst/>
          </a:prstGeom>
          <a:solidFill>
            <a:srgbClr val="002E6E"/>
          </a:solidFill>
          <a:ln w="1524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9F1"/>
                </a:solidFill>
              </a:defRPr>
            </a:pPr>
            <a:r>
              <a:t>PAYTM BUILD FOR INDIA AI HACKATHON 2026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Paytm VyapaarAI</a:t>
            </a:r>
          </a:p>
          <a:p>
            <a:pPr>
              <a:spcAft>
                <a:spcPts val="1800"/>
              </a:spcAft>
              <a:defRPr sz="2000">
                <a:solidFill>
                  <a:srgbClr val="E2EBF8"/>
                </a:solidFill>
              </a:defRPr>
            </a:pPr>
            <a:r>
              <a:t>Transforming 1 Crore+ Passive Paytm Soundboxes into Voice-First AI Financial Copilots</a:t>
            </a:r>
          </a:p>
          <a:p>
            <a:pPr>
              <a:defRPr sz="1300" b="1">
                <a:solidFill>
                  <a:srgbClr val="00B9F1"/>
                </a:solidFill>
              </a:defRPr>
            </a:pPr>
            <a:r>
              <a:t>⚡ Zero-Effort Customer QR Pay-Later   |   🎙️ Vernacular Hinglish Copilot   |   💳 1-Click ₹50k Cash Advance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92040"/>
            <a:ext cx="34290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B9F1"/>
                </a:solidFill>
              </a:defRPr>
            </a:pPr>
            <a:r>
              <a:t>🎯 HACKATHON FOCUS</a:t>
            </a:r>
          </a:p>
          <a:p>
            <a:pPr>
              <a:defRPr sz="1200" b="1">
                <a:solidFill>
                  <a:srgbClr val="192533"/>
                </a:solidFill>
              </a:defRPr>
            </a:pPr>
            <a:r>
              <a:t>Track 1: Merchant Growth AI</a:t>
            </a:r>
            <a:br/>
            <a:r>
              <a:t>Empowering 1 Cr+ Retail Merchants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4892040"/>
            <a:ext cx="34290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B9F1"/>
                </a:solidFill>
              </a:defRPr>
            </a:pPr>
            <a:r>
              <a:t>👥 BUILD TEAM</a:t>
            </a:r>
          </a:p>
          <a:p>
            <a:pPr>
              <a:defRPr sz="1200" b="1">
                <a:solidFill>
                  <a:srgbClr val="192533"/>
                </a:solidFill>
              </a:defRPr>
            </a:pPr>
            <a:r>
              <a:t>Syed Rahbar Ali (AI &amp; Backend Lead)</a:t>
            </a:r>
            <a:br/>
            <a:r>
              <a:t>Salwa (Android Native) | Srishti (UI/UX)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4892040"/>
            <a:ext cx="34290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BA58"/>
                </a:solidFill>
              </a:defRPr>
            </a:pPr>
            <a:r>
              <a:t>⚙️ PROTOTYPE READINESS</a:t>
            </a:r>
          </a:p>
          <a:p>
            <a:pPr>
              <a:defRPr sz="1200" b="1">
                <a:solidFill>
                  <a:srgbClr val="192533"/>
                </a:solidFill>
              </a:defRPr>
            </a:pPr>
            <a:r>
              <a:t>100% Live Functional Backend</a:t>
            </a:r>
            <a:br/>
            <a:r>
              <a:t>Edge-TTS Audio + Real SQLite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389120" cy="292608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2E6E"/>
                </a:solidFill>
              </a:defRPr>
            </a:pPr>
            <a:r>
              <a:t>  🛡️ TRACK 1: MERCHANT GROWTH AI • NOIDA FINALS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E6E"/>
                </a:solidFill>
              </a:defRPr>
            </a:pPr>
            <a:r>
              <a:t>The Ground Reality: Why Generic Accounting Apps Fail in Bharat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53935"/>
                </a:solidFill>
              </a:defRPr>
            </a:pPr>
            <a:r>
              <a:t>❌ PAIN POINT 1</a:t>
            </a:r>
          </a:p>
          <a:p>
            <a:pPr>
              <a:spcAft>
                <a:spcPts val="1200"/>
              </a:spcAft>
              <a:defRPr sz="1600" b="1">
                <a:solidFill>
                  <a:srgbClr val="002E6E"/>
                </a:solidFill>
              </a:defRPr>
            </a:pPr>
            <a:r>
              <a:t>The Passive Hardware Trap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• 1 Crore+ Paytm Soundboxes announce payments: 'Paytm par ₹150 prapt hue'.</a:t>
            </a:r>
            <a:br/>
            <a:br/>
            <a:r>
              <a:t>• However, hardware remains completely passive and blind to store profitability, supplier debt, or customer credit.</a:t>
            </a:r>
            <a:br/>
            <a:br/>
            <a:r>
              <a:t>• It speaks after money arrives, but never helps the merchant grow or manage cash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429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53935"/>
                </a:solidFill>
              </a:defRPr>
            </a:pPr>
            <a:r>
              <a:t>❌ PAIN POINT 2</a:t>
            </a:r>
          </a:p>
          <a:p>
            <a:pPr>
              <a:spcAft>
                <a:spcPts val="1200"/>
              </a:spcAft>
              <a:defRPr sz="1600" b="1">
                <a:solidFill>
                  <a:srgbClr val="002E6E"/>
                </a:solidFill>
              </a:defRPr>
            </a:pPr>
            <a:r>
              <a:t>The Khata Bleed &amp; Literacy Barrier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• 80%+ Kirana shopkeepers are semi-literate and refuse to manually type names/items into Khatabook or OkCredit.</a:t>
            </a:r>
            <a:br/>
            <a:br/>
            <a:r>
              <a:t>• Credit is logged in torn physical paper diaries, causing a 15–20% default/forget rate.</a:t>
            </a:r>
            <a:br/>
            <a:br/>
            <a:r>
              <a:t>• Average small shop has ₹15,000–₹25,000 stuck in uncollected informal debts.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63040"/>
            <a:ext cx="3429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53935"/>
                </a:solidFill>
              </a:defRPr>
            </a:pPr>
            <a:r>
              <a:t>❌ PAIN POINT 3</a:t>
            </a:r>
          </a:p>
          <a:p>
            <a:pPr>
              <a:spcAft>
                <a:spcPts val="1200"/>
              </a:spcAft>
              <a:defRPr sz="1600" b="1">
                <a:solidFill>
                  <a:srgbClr val="002E6E"/>
                </a:solidFill>
              </a:defRPr>
            </a:pPr>
            <a:r>
              <a:t>Institutional Credit Rejection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• Kirana stores process ₹2–3 Lakhs monthly on UPI QR codes.</a:t>
            </a:r>
            <a:br/>
            <a:br/>
            <a:r>
              <a:t>• Yet, when applying for loans, banks reject them due to zero formal ITR, balance sheets, or physical collateral.</a:t>
            </a:r>
            <a:br/>
            <a:br/>
            <a:r>
              <a:t>• High UPI transaction consistency is never monetized into pre-approved credit.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389120" cy="292608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2E6E"/>
                </a:solidFill>
              </a:defRPr>
            </a:pPr>
            <a:r>
              <a:t>  🛡️ TRACK 1: MERCHANT GROWTH AI • NOIDA FINALS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E6E"/>
                </a:solidFill>
              </a:defRPr>
            </a:pPr>
            <a:r>
              <a:t>The Breakthrough: Customer-Initiated QR Pay-Later (Udhaar)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45309"/>
                </a:solidFill>
              </a:defRPr>
            </a:pPr>
            <a:r>
              <a:t>💡 THE ZERO-EFFORT INVARIANT: Dukandar kuch type nahi karega. Customer apne phone se udhaar log karega!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4203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B9F1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350" b="1">
                <a:solidFill>
                  <a:srgbClr val="002E6E"/>
                </a:solidFill>
              </a:defRPr>
            </a:pPr>
            <a:r>
              <a:t>STEP 1: Counter Scan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Customer counter par lage Paytm QR ko scan karta hai.</a:t>
            </a:r>
          </a:p>
          <a:p>
            <a:pPr>
              <a:defRPr sz="1150" b="1">
                <a:solidFill>
                  <a:srgbClr val="002E6E"/>
                </a:solidFill>
              </a:defRPr>
            </a:pPr>
            <a:r>
              <a:t>Smart Web Checkout opens: paytm.me/pay/sharma-store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286000"/>
            <a:ext cx="254203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B9F1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350" b="1">
                <a:solidFill>
                  <a:srgbClr val="002E6E"/>
                </a:solidFill>
              </a:defRPr>
            </a:pPr>
            <a:r>
              <a:t>STEP 2: Pay-Later Selection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Customer phone par option chunta hai: [✓] Take Khata / Pay Later</a:t>
            </a:r>
          </a:p>
          <a:p>
            <a:pPr>
              <a:defRPr sz="1150" b="1">
                <a:solidFill>
                  <a:srgbClr val="002E6E"/>
                </a:solidFill>
              </a:defRPr>
            </a:pPr>
            <a:r>
              <a:t>Amount enter karta hai: ₹200 aur tap karta hai 'Confirm'.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286000"/>
            <a:ext cx="254203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B9F1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350" b="1">
                <a:solidFill>
                  <a:srgbClr val="002E6E"/>
                </a:solidFill>
              </a:defRPr>
            </a:pPr>
            <a:r>
              <a:t>STEP 3: Soundbox Speech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Soundbox 0.5s me counter par public announcement karta hai:</a:t>
            </a:r>
          </a:p>
          <a:p>
            <a:pPr>
              <a:defRPr sz="1150" b="1">
                <a:solidFill>
                  <a:srgbClr val="F59E0B"/>
                </a:solidFill>
              </a:defRPr>
            </a:pPr>
            <a:r>
              <a:t>📢 'Sharma Kirana alert: Rahul Kumar ne ₹200 ka udhaar darj kiya!'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286000"/>
            <a:ext cx="254203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B9F1"/>
                </a:solidFill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350" b="1">
                <a:solidFill>
                  <a:srgbClr val="002E6E"/>
                </a:solidFill>
              </a:defRPr>
            </a:pPr>
            <a:r>
              <a:t>STEP 4: Real-time Ledger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Android Command App me amber warning card display hota hai:</a:t>
            </a:r>
          </a:p>
          <a:p>
            <a:pPr>
              <a:defRPr sz="1150" b="1">
                <a:solidFill>
                  <a:srgbClr val="002E6E"/>
                </a:solidFill>
              </a:defRPr>
            </a:pPr>
            <a:r>
              <a:t>Ledger automatically adds Rahul Kumar to pending Khata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389120" cy="292608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2E6E"/>
                </a:solidFill>
              </a:defRPr>
            </a:pPr>
            <a:r>
              <a:t>  🛡️ TRACK 1: MERCHANT GROWTH AI • NOIDA FINALS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E6E"/>
                </a:solidFill>
              </a:defRPr>
            </a:pPr>
            <a:r>
              <a:t>The Recovery Engine: Next-Visit Auto-Settlement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A58"/>
                </a:solidFill>
              </a:defRPr>
            </a:pPr>
            <a:r>
              <a:t>🔄 THE AWKWARDNESS-FREE RECOVERY</a:t>
            </a:r>
          </a:p>
          <a:p>
            <a:pPr>
              <a:spcAft>
                <a:spcPts val="1400"/>
              </a:spcAft>
              <a:defRPr sz="1800" b="1">
                <a:solidFill>
                  <a:srgbClr val="002E6E"/>
                </a:solidFill>
              </a:defRPr>
            </a:pPr>
            <a:r>
              <a:t>How Debt is Recovered Without Asking: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4 din baad Rahul Kumar ₹500 ka samaan lene Sharma Kirana aata hai.</a:t>
            </a:r>
            <a:br/>
            <a:br/>
            <a:r>
              <a:t>• Rahul counter par standard QR scan karta hai payment ke liye.</a:t>
            </a:r>
            <a:br/>
            <a:br/>
            <a:r>
              <a:t>• Checkout Engine automatically detects pending debt: 'You have ₹200 pending Khata'.</a:t>
            </a:r>
            <a:br/>
            <a:br/>
            <a:r>
              <a:t>• Prompt appears: 'Auto-settle ₹200 Udhaar with this ₹500 payment?' -&gt; Rahul approves.</a:t>
            </a:r>
            <a:br/>
            <a:br/>
            <a:r>
              <a:t>• Neither merchant nor customer had to negotiate verbally. Debt clears friction-free.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0B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A58"/>
                </a:solidFill>
              </a:defRPr>
            </a:pPr>
            <a:r>
              <a:t>⚡ DETERMINISTIC SPLIT &amp; SOUNDBOX AUDIO</a:t>
            </a:r>
          </a:p>
          <a:p>
            <a:pPr>
              <a:spcAft>
                <a:spcPts val="1200"/>
              </a:spcAft>
              <a:defRPr sz="2000" b="1">
                <a:solidFill>
                  <a:srgbClr val="002E6E"/>
                </a:solidFill>
              </a:defRPr>
            </a:pPr>
            <a:r>
              <a:t>Incoming Payment: ₹500.00</a:t>
            </a:r>
          </a:p>
          <a:p>
            <a:pPr>
              <a:spcAft>
                <a:spcPts val="1800"/>
              </a:spcAft>
              <a:defRPr sz="1350" b="1">
                <a:solidFill>
                  <a:srgbClr val="192533"/>
                </a:solidFill>
              </a:defRPr>
            </a:pPr>
            <a:r>
              <a:t>1. Settle Pending Khata: ₹200.00 -&gt; Debt Status = SETTLED</a:t>
            </a:r>
            <a:br/>
            <a:r>
              <a:t>2. New Grocery Sale: ₹300.00 -&gt; Credited to Sales</a:t>
            </a:r>
          </a:p>
          <a:p>
            <a:pPr>
              <a:defRPr sz="1100" b="1">
                <a:solidFill>
                  <a:srgbClr val="002E6E"/>
                </a:solidFill>
              </a:defRPr>
            </a:pPr>
            <a:r>
              <a:t>📢 REAL-TIME SOUNDBOX AUDIO ANNOUNCEMENT:</a:t>
            </a:r>
          </a:p>
          <a:p>
            <a:pPr>
              <a:defRPr sz="1500" b="1">
                <a:solidFill>
                  <a:srgbClr val="00BA58"/>
                </a:solidFill>
              </a:defRPr>
            </a:pPr>
            <a:r>
              <a:t>"Paytm par ₹500 prapt hue. Aur purana ₹200 udhaar chukta hua!"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389120" cy="292608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2E6E"/>
                </a:solidFill>
              </a:defRPr>
            </a:pPr>
            <a:r>
              <a:t>  🛡️ TRACK 1: MERCHANT GROWTH AI • NOIDA FINALS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E6E"/>
                </a:solidFill>
              </a:defRPr>
            </a:pPr>
            <a:r>
              <a:t>Push-to-Talk Voice Copilot: Zero-Typing Vernacular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9F1"/>
                </a:solidFill>
              </a:defRPr>
            </a:pPr>
            <a:r>
              <a:t>🎙️ INPUT: SHOPKEEPER SPEAKS</a:t>
            </a:r>
          </a:p>
          <a:p>
            <a:pPr>
              <a:spcAft>
                <a:spcPts val="1000"/>
              </a:spcAft>
              <a:defRPr sz="1700" b="1">
                <a:solidFill>
                  <a:srgbClr val="002E6E"/>
                </a:solidFill>
              </a:defRPr>
            </a:pPr>
            <a:r>
              <a:t>Natural Vernacular Audio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Shopkeeper taps hardware push-to-talk mic or app floating button:</a:t>
            </a:r>
            <a:br/>
            <a:br/>
            <a:r>
              <a:t>'Bhaiya aaj kitna bika aur udhari kiski baaki hai?'</a:t>
            </a:r>
            <a:br/>
            <a:br/>
            <a:r>
              <a:t>• No English required.</a:t>
            </a:r>
            <a:br/>
            <a:r>
              <a:t>• No typing on touchscreen.</a:t>
            </a:r>
            <a:br/>
            <a:r>
              <a:t>• Works in noisy marketplace.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7160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9F1"/>
                </a:solidFill>
              </a:defRPr>
            </a:pPr>
            <a:r>
              <a:t>⚙️ PROCESSING: ZERO-HALLUCINATION</a:t>
            </a:r>
          </a:p>
          <a:p>
            <a:pPr>
              <a:spcAft>
                <a:spcPts val="1000"/>
              </a:spcAft>
              <a:defRPr sz="1700" b="1">
                <a:solidFill>
                  <a:srgbClr val="002E6E"/>
                </a:solidFill>
              </a:defRPr>
            </a:pPr>
            <a:r>
              <a:t>Deterministic AI Pipeline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1. WebRTC Noise Gate: Strips traffic noise.</a:t>
            </a:r>
            <a:br/>
            <a:r>
              <a:t>2. Groq Whisper ASR: &lt;500ms Hindi transcription.</a:t>
            </a:r>
            <a:br/>
            <a:r>
              <a:t>3. Pydantic Intent Classifier: Extracts intent without LLM math.</a:t>
            </a:r>
            <a:br/>
            <a:r>
              <a:t>4. Deterministic SQL: SUM(amount) = ₹9,420 exact.</a:t>
            </a:r>
            <a:br/>
            <a:br/>
            <a:r>
              <a:t>Zero financial hallucination.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37160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A58"/>
                </a:solidFill>
              </a:defRPr>
            </a:pPr>
            <a:r>
              <a:t>🔊 OUTPUT: DUAL MULTIMODAL</a:t>
            </a:r>
          </a:p>
          <a:p>
            <a:pPr>
              <a:spcAft>
                <a:spcPts val="1000"/>
              </a:spcAft>
              <a:defRPr sz="1700" b="1">
                <a:solidFill>
                  <a:srgbClr val="002E6E"/>
                </a:solidFill>
              </a:defRPr>
            </a:pPr>
            <a:r>
              <a:t>Audio Chime + Visual Action</a:t>
            </a:r>
          </a:p>
          <a:p>
            <a:pPr>
              <a:defRPr sz="1250">
                <a:solidFill>
                  <a:srgbClr val="475569"/>
                </a:solidFill>
              </a:defRPr>
            </a:pPr>
            <a:r>
              <a:t>1. Edge-TTS Audio Speech:</a:t>
            </a:r>
            <a:br/>
            <a:r>
              <a:t>'Sharma ji, aaj counter par ₹9,420 ki sale hui hai, aur 2 customers ka ₹2,250 udhaar baaki hai.'</a:t>
            </a:r>
            <a:br/>
            <a:br/>
            <a:r>
              <a:t>2. 1-Click WhatsApp Reminders:</a:t>
            </a:r>
            <a:br/>
            <a:r>
              <a:t>Sends dynamic UPI payment links to debtors with 1 tap.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389120" cy="292608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2E6E"/>
                </a:solidFill>
              </a:defRPr>
            </a:pPr>
            <a:r>
              <a:t>  🛡️ TRACK 1: MERCHANT GROWTH AI • NOIDA FINALS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E6E"/>
                </a:solidFill>
              </a:defRPr>
            </a:pPr>
            <a:r>
              <a:t>Credit Underwriting: 1-Click ₹50,000 Working Capital Advance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002E6E"/>
          </a:solidFill>
          <a:ln w="1524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9F1"/>
                </a:solidFill>
              </a:defRPr>
            </a:pPr>
            <a:r>
              <a:t>⭐ PROPRIETARY SCORE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Paytm Health Score</a:t>
            </a:r>
            <a:br/>
            <a:r>
              <a:t>88 / 100</a:t>
            </a:r>
          </a:p>
          <a:p>
            <a:pPr>
              <a:defRPr sz="1250">
                <a:solidFill>
                  <a:srgbClr val="E2EBF8"/>
                </a:solidFill>
              </a:defRPr>
            </a:pPr>
            <a:r>
              <a:t>Underwritten strictly on:</a:t>
            </a:r>
            <a:br/>
            <a:r>
              <a:t>• 90-day Soundbox consistency</a:t>
            </a:r>
            <a:br/>
            <a:r>
              <a:t>• 42+ average daily transactions</a:t>
            </a:r>
            <a:br/>
            <a:r>
              <a:t>• 92% 30-day Khata recovery rate</a:t>
            </a:r>
            <a:br/>
            <a:br/>
            <a:r>
              <a:t>Zero Paperwork. Zero ITR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7132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E6E"/>
                </a:solidFill>
              </a:defRPr>
            </a:pPr>
            <a:r>
              <a:t>INSTANT WORKING CAPITAL OFFER</a:t>
            </a:r>
          </a:p>
          <a:p>
            <a:pPr>
              <a:spcAft>
                <a:spcPts val="1400"/>
              </a:spcAft>
              <a:defRPr sz="2200" b="1">
                <a:solidFill>
                  <a:srgbClr val="00BA58"/>
                </a:solidFill>
              </a:defRPr>
            </a:pPr>
            <a:r>
              <a:t>₹50,000 Pre-Approved Cash Advance</a:t>
            </a:r>
          </a:p>
          <a:p>
            <a:pPr>
              <a:spcAft>
                <a:spcPts val="600"/>
              </a:spcAft>
              <a:defRPr sz="1300">
                <a:solidFill>
                  <a:srgbClr val="192533"/>
                </a:solidFill>
              </a:defRPr>
            </a:pPr>
            <a:r>
              <a:t>• Disbursal Destination: Paytm Payments Bank (A/c ending in *4821) — Instant 1-Click OTP Disbursal</a:t>
            </a:r>
          </a:p>
          <a:p>
            <a:pPr>
              <a:spcAft>
                <a:spcPts val="600"/>
              </a:spcAft>
              <a:defRPr sz="1300">
                <a:solidFill>
                  <a:srgbClr val="192533"/>
                </a:solidFill>
              </a:defRPr>
            </a:pPr>
            <a:r>
              <a:t>• Micro-Daily Sweep: ₹300 / day automatically deducted from daily Soundbox QR collections</a:t>
            </a:r>
          </a:p>
          <a:p>
            <a:pPr>
              <a:spcAft>
                <a:spcPts val="600"/>
              </a:spcAft>
              <a:defRPr sz="1300">
                <a:solidFill>
                  <a:srgbClr val="192533"/>
                </a:solidFill>
              </a:defRPr>
            </a:pPr>
            <a:r>
              <a:t>• Interest Rate &amp; Tenure: 1.25% flat per month | 180 Days (6 Months) Tenure</a:t>
            </a:r>
          </a:p>
          <a:p>
            <a:pPr>
              <a:spcAft>
                <a:spcPts val="600"/>
              </a:spcAft>
              <a:defRPr sz="1300">
                <a:solidFill>
                  <a:srgbClr val="192533"/>
                </a:solidFill>
              </a:defRPr>
            </a:pPr>
            <a:r>
              <a:t>• Default Protection: Repayment tied directly to incoming daily customer UPI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389120" cy="292608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2E6E"/>
                </a:solidFill>
              </a:defRPr>
            </a:pPr>
            <a:r>
              <a:t>  🛡️ TRACK 1: MERCHANT GROWTH AI • NOIDA FINALS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E6E"/>
                </a:solidFill>
              </a:defRPr>
            </a:pPr>
            <a:r>
              <a:t>System Architecture: The Hardware-Mobile-WhatsApp Triad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B9F1"/>
                </a:solidFill>
              </a:defRPr>
            </a:pPr>
            <a:r>
              <a:t>1. PHYSICAL COUNTER IOT LAYER</a:t>
            </a:r>
          </a:p>
          <a:p>
            <a:pPr>
              <a:defRPr sz="1300" b="1">
                <a:solidFill>
                  <a:srgbClr val="002E6E"/>
                </a:solidFill>
              </a:defRPr>
            </a:pPr>
            <a:r>
              <a:t>Paytm Soundbox 4.0 Hardware — LTE SIM + MQTT Webhook + 3W Loudspeaker Audio Announcements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B9F1"/>
                </a:solidFill>
              </a:defRPr>
            </a:pPr>
            <a:r>
              <a:t>2. BACKEND DETERMINISTIC FINANCIAL CORE</a:t>
            </a:r>
          </a:p>
          <a:p>
            <a:pPr>
              <a:defRPr sz="1300" b="1">
                <a:solidFill>
                  <a:srgbClr val="002E6E"/>
                </a:solidFill>
              </a:defRPr>
            </a:pPr>
            <a:r>
              <a:t>FastAPI + SQLAlchemy + SQLite Ledger — Real-time SQL aggregation + WebRTC Noise Gate + Groq Whisper + Edge-TTS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B9F1"/>
                </a:solidFill>
              </a:defRPr>
            </a:pPr>
            <a:r>
              <a:t>3. VISUAL COMMAND CENTER (MERCHANT)</a:t>
            </a:r>
          </a:p>
          <a:p>
            <a:pPr>
              <a:defRPr sz="1300" b="1">
                <a:solidFill>
                  <a:srgbClr val="002E6E"/>
                </a:solidFill>
              </a:defRPr>
            </a:pPr>
            <a:r>
              <a:t>Android Native App (Kotlin + Compose) — Live Event Feed via SSE + Smart Khata Ledger + 1-Click Loan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B9F1"/>
                </a:solidFill>
              </a:defRPr>
            </a:pPr>
            <a:r>
              <a:t>4. CUSTOMER CHECKOUT &amp; RECOVERY PIPELINE</a:t>
            </a:r>
          </a:p>
          <a:p>
            <a:pPr>
              <a:defRPr sz="1300" b="1">
                <a:solidFill>
                  <a:srgbClr val="002E6E"/>
                </a:solidFill>
              </a:defRPr>
            </a:pPr>
            <a:r>
              <a:t>Smart QR Web Checkout + WhatsApp Link — Customer-Initiated Pay-Later + Split-Settlement Engine + WhatsApp UPI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389120" cy="292608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2E6E"/>
                </a:solidFill>
              </a:defRPr>
            </a:pPr>
            <a:r>
              <a:t>  🛡️ TRACK 1: MERCHANT GROWTH AI • NOIDA FINALS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E6E"/>
                </a:solidFill>
              </a:defRPr>
            </a:pPr>
            <a:r>
              <a:t>Business Model &amp; Strategic Value for Paytm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B9F1"/>
                </a:solidFill>
              </a:defRPr>
            </a:pPr>
            <a:r>
              <a:t>💰 LENDING REVENUE</a:t>
            </a:r>
          </a:p>
          <a:p>
            <a:pPr>
              <a:spcAft>
                <a:spcPts val="800"/>
              </a:spcAft>
              <a:defRPr sz="1700" b="1">
                <a:solidFill>
                  <a:srgbClr val="002E6E"/>
                </a:solidFill>
              </a:defRPr>
            </a:pPr>
            <a:r>
              <a:t>2.5% Origination Fee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High-margin revenue on ₹50,000 cash advance disbursals via lending partners with zero customer acquisition cost (CAC).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B9F1"/>
                </a:solidFill>
              </a:defRPr>
            </a:pPr>
            <a:r>
              <a:t>🛡️ HARDWARE CHURN DEFENSE</a:t>
            </a:r>
          </a:p>
          <a:p>
            <a:pPr>
              <a:spcAft>
                <a:spcPts val="800"/>
              </a:spcAft>
              <a:defRPr sz="1700" b="1">
                <a:solidFill>
                  <a:srgbClr val="002E6E"/>
                </a:solidFill>
              </a:defRPr>
            </a:pPr>
            <a:r>
              <a:t>Soundbox = Essential ERP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Soundbox transforms from a commoditized speaker into an irreplaceable business ledger, slashing merchant churn by 65%.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B9F1"/>
                </a:solidFill>
              </a:defRPr>
            </a:pPr>
            <a:r>
              <a:t>📈 UPI MDR EXPANSION</a:t>
            </a:r>
          </a:p>
          <a:p>
            <a:pPr>
              <a:spcAft>
                <a:spcPts val="800"/>
              </a:spcAft>
              <a:defRPr sz="1700" b="1">
                <a:solidFill>
                  <a:srgbClr val="002E6E"/>
                </a:solidFill>
              </a:defRPr>
            </a:pPr>
            <a:r>
              <a:t>Guaranteed Paytm Rail Volume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Next-visit auto-settlements force repeat transaction volume through Paytm UPI switches, accelerating daily GMV.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B9F1"/>
                </a:solidFill>
              </a:defRPr>
            </a:pPr>
            <a:r>
              <a:t>💎 VYAPAARAI PRO FREEMIUM</a:t>
            </a:r>
          </a:p>
          <a:p>
            <a:pPr>
              <a:spcAft>
                <a:spcPts val="800"/>
              </a:spcAft>
              <a:defRPr sz="1700" b="1">
                <a:solidFill>
                  <a:srgbClr val="002E6E"/>
                </a:solidFill>
              </a:defRPr>
            </a:pPr>
            <a:r>
              <a:t>₹99 / Month Subscription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Core ledger is free; advanced automated supplier restocking and GST voice summaries drive recurring SaaS ARR.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